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0E693-1B7F-4864-D094-0BA0C5CB5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AFB503-7228-1C56-1491-F7AA83F37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BA587C-7768-5C54-2F16-229246C5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99D333-285F-2486-A20B-9D31B5A8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9427F-6D66-92FA-D8DE-2F10ED5C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36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0B4C5-C559-63DF-08FF-5E7EAF36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3A2EBF-A030-C0AA-07C0-6AE91095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7D990-797B-F751-87CC-180A685E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F469FE-ED78-9E7D-2D35-9B9E9A63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4EE206-6FAF-F846-7EA4-C6B2B87A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05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F106F9-0C36-D28C-BA22-F2DCA383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66FAFF-29E8-471D-0E25-4A7427C3F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7DEA65-B203-5D3C-9C1E-DB8180AA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188B43-03A4-3645-BE50-51AF0A5B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168F53-19EE-CF3C-3FCC-A3960748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950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92FAF-A1FA-20BB-EAA4-AFF84554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BF9301-8F19-5313-2A33-CBB265E35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8C760-FE1F-3C5E-2BD7-CC2605FD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A00FB6-F5BF-74F8-3591-1B81553F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D5F6E3-34DA-5361-CDC6-6E09AB2A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49C998-E57E-5B12-19D1-4FCF4DB9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51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FAB77-244E-5D33-14BC-CA64F8C1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02B0E0-5F46-349F-9E53-81D28707A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6FBC37-3F7F-C4ED-BBC8-45BABC7F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B9F375C-95C2-443A-9C15-2A7253331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3CB413-CE52-3986-0025-BBAA97173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1D0E3BC-504B-34E3-8A6A-9CEE12F8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F2E54C-BE14-3737-806A-38477187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1A9FF3-1196-17AB-03C8-0D0652E6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2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E1497-D368-B7B2-DB49-FDDEEEA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6FEC56-5D50-0108-F814-498C8681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D0C76B-07F3-37F0-753F-93D9ABCC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D68647-D72E-EFC6-777C-0E2386CC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35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9613C2-D50E-BDED-0A04-CA883C4C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FD8026-3EA4-557C-DCCD-8295C0DD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C754E9-4401-B944-3B5C-3C23934B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2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F17411-4BC2-9462-FE6F-C00D18F3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09ED9-3D05-DBDF-DCA8-883B55013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CCF8E3-D6E8-4F2C-5D00-BF5ED6154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AE21FF-1776-942B-73AF-D735D772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DCB8C-8FC4-D92F-8FCD-7982AAF7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376B3F-67CE-FDAD-70A4-9ECFAC6B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312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3C4A93-7AD6-144B-2E6E-597D1C94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D3D27C-75B8-C9D5-FA27-CC8186840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EAF6F2-F6C9-5728-ADE9-4EBAC734F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E6E8DE-EBB0-78ED-C93D-9C0C4007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AAF276-2238-097E-18CD-7A2874C2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D0E271-0206-FCC6-CD63-339158BB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04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1ECFA-80A7-C000-E7C2-AB53AB6B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01636D-659E-3A7A-F0A9-42F9DD44E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AB6260-FD56-CD58-3216-D31DBA2A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FF7CB-B484-B852-75B1-5F0D4796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F3B118-3FCB-9E28-AA49-D905CB34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06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1B593A9-A837-10D8-9D81-4D98B3BAB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6093D9-DD4D-7F60-BAB4-ABB9B0B59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2099B-2602-6104-FFC7-F9A001B7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ECAB7D-D47B-008E-4255-0414B05F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7D6FE1-E471-E51F-4676-C74EB951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6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8F69D9-651A-C848-AB04-B89E2524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23EF3F-C84B-FA94-5296-7B4E8C1A4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76EDB1-3A07-5812-1C90-4F7143654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23066-9921-418A-9237-54A23970FCD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46BAFC-F84A-8F62-27DA-5468B13F5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E2281-59C2-8078-41D7-2652480C7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D9772-89EA-4E54-BFE6-A67630F840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52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04732-54A2-5D06-8937-E58663A63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Projet C#: </a:t>
            </a:r>
            <a:r>
              <a:rPr lang="fr-FR" dirty="0" err="1"/>
              <a:t>pricing</a:t>
            </a:r>
            <a:r>
              <a:rPr lang="fr-FR" dirty="0"/>
              <a:t> d’un panier d’options par moments </a:t>
            </a:r>
            <a:r>
              <a:rPr lang="fr-FR" dirty="0" err="1"/>
              <a:t>matching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90B5CD-B166-AD77-E8B6-2A19E5946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Rémi Schmitt et Théo </a:t>
            </a:r>
            <a:r>
              <a:rPr lang="fr-FR" dirty="0" err="1"/>
              <a:t>Verdelhan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82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05EB6-C5DD-05E6-C453-DCEBD7F8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Moments </a:t>
            </a:r>
            <a:r>
              <a:rPr lang="fr-FR" dirty="0" err="1"/>
              <a:t>matching</a:t>
            </a:r>
            <a:r>
              <a:rPr lang="fr-FR" dirty="0"/>
              <a:t> méthode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8C46A9-3D9F-EAD4-7847-EE7F9B34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Classe Basket ayant pour attributs : </a:t>
            </a:r>
            <a:r>
              <a:rPr lang="en-US" dirty="0"/>
              <a:t>Stocks (</a:t>
            </a:r>
            <a:r>
              <a:rPr lang="en-US" dirty="0" err="1"/>
              <a:t>liste</a:t>
            </a:r>
            <a:r>
              <a:rPr lang="en-US" dirty="0"/>
              <a:t> de Stocks), Weights (</a:t>
            </a:r>
            <a:r>
              <a:rPr lang="en-US" dirty="0" err="1"/>
              <a:t>poids</a:t>
            </a:r>
            <a:r>
              <a:rPr lang="en-US" dirty="0"/>
              <a:t> des stocks) , </a:t>
            </a:r>
            <a:r>
              <a:rPr lang="en-US" dirty="0" err="1"/>
              <a:t>CorrelationMatrix</a:t>
            </a:r>
            <a:r>
              <a:rPr lang="en-US" dirty="0"/>
              <a:t>, </a:t>
            </a:r>
            <a:r>
              <a:rPr lang="en-US" dirty="0" err="1"/>
              <a:t>RiskFreeRate</a:t>
            </a:r>
            <a:r>
              <a:rPr lang="en-US" dirty="0"/>
              <a:t>.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BasketOption</a:t>
            </a:r>
            <a:r>
              <a:rPr lang="fr-FR" dirty="0"/>
              <a:t> ayant pour attributs : Basket, </a:t>
            </a:r>
            <a:r>
              <a:rPr lang="fr-FR" dirty="0" err="1"/>
              <a:t>OptionType</a:t>
            </a:r>
            <a:r>
              <a:rPr lang="fr-FR" dirty="0"/>
              <a:t>, Strike, </a:t>
            </a:r>
            <a:r>
              <a:rPr lang="fr-FR" dirty="0" err="1"/>
              <a:t>Maturity</a:t>
            </a:r>
            <a:r>
              <a:rPr lang="fr-FR" dirty="0"/>
              <a:t>.</a:t>
            </a:r>
          </a:p>
          <a:p>
            <a:r>
              <a:rPr lang="fr-FR" dirty="0"/>
              <a:t>Classe </a:t>
            </a:r>
            <a:r>
              <a:rPr lang="fr-FR" dirty="0" err="1"/>
              <a:t>MomentMatchingPricer</a:t>
            </a:r>
            <a:r>
              <a:rPr lang="fr-FR" dirty="0"/>
              <a:t> regroupant les méthodes : Price,</a:t>
            </a:r>
            <a:br>
              <a:rPr lang="fr-FR" dirty="0"/>
            </a:br>
            <a:r>
              <a:rPr lang="fr-FR" dirty="0" err="1"/>
              <a:t>CalculateFirstMoment</a:t>
            </a:r>
            <a:r>
              <a:rPr lang="fr-FR" dirty="0"/>
              <a:t> (calcul du 1</a:t>
            </a:r>
            <a:r>
              <a:rPr lang="fr-FR" baseline="30000" dirty="0"/>
              <a:t>er</a:t>
            </a:r>
            <a:r>
              <a:rPr lang="fr-FR" dirty="0"/>
              <a:t> moment),</a:t>
            </a:r>
            <a:br>
              <a:rPr lang="fr-FR" dirty="0"/>
            </a:br>
            <a:r>
              <a:rPr lang="fr-FR" dirty="0" err="1"/>
              <a:t>CalculateSecondMoment</a:t>
            </a:r>
            <a:r>
              <a:rPr lang="fr-FR" dirty="0"/>
              <a:t> (calcul du 2</a:t>
            </a:r>
            <a:r>
              <a:rPr lang="fr-FR" baseline="30000" dirty="0"/>
              <a:t>nd</a:t>
            </a:r>
            <a:r>
              <a:rPr lang="fr-FR" dirty="0"/>
              <a:t> moment),</a:t>
            </a:r>
            <a:br>
              <a:rPr lang="fr-FR" dirty="0"/>
            </a:br>
            <a:r>
              <a:rPr lang="fr-FR" dirty="0" err="1"/>
              <a:t>CalculateOptionPrice</a:t>
            </a:r>
            <a:r>
              <a:rPr lang="fr-FR" dirty="0"/>
              <a:t> (calcul des prix de l’option).</a:t>
            </a:r>
          </a:p>
        </p:txBody>
      </p:sp>
    </p:spTree>
    <p:extLst>
      <p:ext uri="{BB962C8B-B14F-4D97-AF65-F5344CB8AC3E}">
        <p14:creationId xmlns:p14="http://schemas.microsoft.com/office/powerpoint/2010/main" val="426830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ADD00-EAE3-AF7F-76DF-DDDFCF78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Moments </a:t>
            </a:r>
            <a:r>
              <a:rPr lang="fr-FR" dirty="0" err="1"/>
              <a:t>matching</a:t>
            </a:r>
            <a:r>
              <a:rPr lang="fr-FR" dirty="0"/>
              <a:t> méthode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18E264-E532-A45E-58C9-AE69BD891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Classe public BasketH2 ayant pour attributs : StockH2 ( liste de StocksH2, </a:t>
            </a:r>
            <a:r>
              <a:rPr lang="fr-FR" dirty="0" err="1"/>
              <a:t>Weights</a:t>
            </a:r>
            <a:r>
              <a:rPr lang="fr-FR" dirty="0"/>
              <a:t>, </a:t>
            </a:r>
            <a:r>
              <a:rPr lang="fr-FR" dirty="0" err="1"/>
              <a:t>CorrelationMatrix</a:t>
            </a:r>
            <a:r>
              <a:rPr lang="fr-FR" dirty="0"/>
              <a:t>, </a:t>
            </a:r>
            <a:r>
              <a:rPr lang="fr-FR" dirty="0" err="1"/>
              <a:t>DeterministicRateModel</a:t>
            </a:r>
            <a:r>
              <a:rPr lang="fr-FR" dirty="0"/>
              <a:t> </a:t>
            </a:r>
            <a:r>
              <a:rPr lang="fr-FR" dirty="0" err="1"/>
              <a:t>RateModel</a:t>
            </a:r>
            <a:r>
              <a:rPr lang="fr-FR" dirty="0"/>
              <a:t> héritant de </a:t>
            </a:r>
            <a:r>
              <a:rPr lang="fr-FR" dirty="0" err="1"/>
              <a:t>DeterministicRateModel</a:t>
            </a:r>
            <a:r>
              <a:rPr lang="fr-FR" dirty="0"/>
              <a:t>.</a:t>
            </a:r>
          </a:p>
          <a:p>
            <a:r>
              <a:rPr lang="fr-FR" dirty="0"/>
              <a:t>StocksH2 ayant pour attributs : Name, </a:t>
            </a:r>
            <a:r>
              <a:rPr lang="fr-FR" dirty="0" err="1"/>
              <a:t>SpotPrice</a:t>
            </a:r>
            <a:r>
              <a:rPr lang="fr-FR" dirty="0"/>
              <a:t>, </a:t>
            </a:r>
            <a:r>
              <a:rPr lang="fr-FR" dirty="0" err="1"/>
              <a:t>VolatilityModel</a:t>
            </a:r>
            <a:r>
              <a:rPr lang="fr-FR" dirty="0"/>
              <a:t> héritant de </a:t>
            </a:r>
            <a:r>
              <a:rPr lang="fr-FR" dirty="0" err="1"/>
              <a:t>DeterministicVolatilityModel</a:t>
            </a:r>
            <a:r>
              <a:rPr lang="fr-FR" dirty="0"/>
              <a:t>, </a:t>
            </a:r>
            <a:r>
              <a:rPr lang="fr-FR" dirty="0" err="1"/>
              <a:t>DividendRate</a:t>
            </a:r>
            <a:r>
              <a:rPr lang="fr-FR" dirty="0"/>
              <a:t>.</a:t>
            </a:r>
          </a:p>
          <a:p>
            <a:r>
              <a:rPr lang="fr-FR" dirty="0" err="1"/>
              <a:t>DeterministicVolatilityModel</a:t>
            </a:r>
            <a:r>
              <a:rPr lang="fr-FR" dirty="0"/>
              <a:t> ayant pour attributs : _</a:t>
            </a:r>
            <a:r>
              <a:rPr lang="fr-FR" dirty="0" err="1"/>
              <a:t>volPoints</a:t>
            </a:r>
            <a:r>
              <a:rPr lang="fr-FR" dirty="0"/>
              <a:t> (liste de tuples (date, double); et les méthodes : </a:t>
            </a:r>
            <a:r>
              <a:rPr lang="fr-FR" dirty="0" err="1"/>
              <a:t>AddVolatilityPoint</a:t>
            </a:r>
            <a:r>
              <a:rPr lang="fr-FR" dirty="0"/>
              <a:t>, </a:t>
            </a:r>
            <a:r>
              <a:rPr lang="fr-FR" dirty="0" err="1"/>
              <a:t>GetVolatility</a:t>
            </a:r>
            <a:r>
              <a:rPr lang="fr-FR" dirty="0"/>
              <a:t>, </a:t>
            </a:r>
            <a:r>
              <a:rPr lang="fr-FR" dirty="0" err="1"/>
              <a:t>IntegrateVariance</a:t>
            </a:r>
            <a:r>
              <a:rPr lang="fr-FR" dirty="0"/>
              <a:t>.</a:t>
            </a:r>
          </a:p>
          <a:p>
            <a:r>
              <a:rPr lang="fr-FR" dirty="0" err="1"/>
              <a:t>DeterministicRateModel</a:t>
            </a:r>
            <a:r>
              <a:rPr lang="fr-FR" dirty="0"/>
              <a:t> ayant pour attributs : _</a:t>
            </a:r>
            <a:r>
              <a:rPr lang="fr-FR" dirty="0" err="1"/>
              <a:t>ratePoints</a:t>
            </a:r>
            <a:r>
              <a:rPr lang="fr-FR" dirty="0"/>
              <a:t> (liste de tuples (date, double); et les méthodes : </a:t>
            </a:r>
            <a:r>
              <a:rPr lang="fr-FR" dirty="0" err="1"/>
              <a:t>AddRatePoint</a:t>
            </a:r>
            <a:r>
              <a:rPr lang="fr-FR" dirty="0"/>
              <a:t>, </a:t>
            </a:r>
            <a:r>
              <a:rPr lang="fr-FR" dirty="0" err="1"/>
              <a:t>GetRate</a:t>
            </a:r>
            <a:r>
              <a:rPr lang="fr-FR" dirty="0"/>
              <a:t>, </a:t>
            </a:r>
            <a:r>
              <a:rPr lang="fr-FR" dirty="0" err="1"/>
              <a:t>IntegrateRate</a:t>
            </a:r>
            <a:r>
              <a:rPr lang="fr-FR" dirty="0"/>
              <a:t>, </a:t>
            </a:r>
            <a:r>
              <a:rPr lang="fr-FR" dirty="0" err="1"/>
              <a:t>GetDiscountFactor</a:t>
            </a:r>
            <a:r>
              <a:rPr lang="fr-FR" dirty="0"/>
              <a:t>.</a:t>
            </a:r>
          </a:p>
          <a:p>
            <a:r>
              <a:rPr lang="fr-FR" dirty="0"/>
              <a:t>Classe MomentMatchingPricerH2 regroupant les méthodes : Price,</a:t>
            </a:r>
            <a:br>
              <a:rPr lang="fr-FR" dirty="0"/>
            </a:br>
            <a:r>
              <a:rPr lang="fr-FR" dirty="0" err="1"/>
              <a:t>CalculateFirstMoment</a:t>
            </a:r>
            <a:r>
              <a:rPr lang="fr-FR" dirty="0"/>
              <a:t> (calcul du 1</a:t>
            </a:r>
            <a:r>
              <a:rPr lang="fr-FR" baseline="30000" dirty="0"/>
              <a:t>er</a:t>
            </a:r>
            <a:r>
              <a:rPr lang="fr-FR" dirty="0"/>
              <a:t> moment), </a:t>
            </a:r>
            <a:r>
              <a:rPr lang="fr-FR" dirty="0" err="1"/>
              <a:t>CalculateSecondMoment</a:t>
            </a:r>
            <a:r>
              <a:rPr lang="fr-FR" dirty="0"/>
              <a:t> (calcul du 2</a:t>
            </a:r>
            <a:r>
              <a:rPr lang="fr-FR" baseline="30000" dirty="0"/>
              <a:t>nd</a:t>
            </a:r>
            <a:r>
              <a:rPr lang="fr-FR" dirty="0"/>
              <a:t> moment), </a:t>
            </a:r>
            <a:r>
              <a:rPr lang="fr-FR" dirty="0" err="1"/>
              <a:t>CalculateCovarianceIntegral</a:t>
            </a:r>
            <a:r>
              <a:rPr lang="fr-FR" dirty="0"/>
              <a:t>, </a:t>
            </a:r>
            <a:r>
              <a:rPr lang="fr-FR" dirty="0" err="1"/>
              <a:t>CalculateOptionPrice</a:t>
            </a:r>
            <a:r>
              <a:rPr lang="fr-FR" dirty="0"/>
              <a:t> (calcul des prix de l’option).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359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8A1A1-D914-4262-B16A-72ADB34D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de Monte-Carlo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0DA693-9C51-DED5-E16C-CE0E954D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MonteCarloResultH2 ayant pour attributs : Price (prix estimé), </a:t>
            </a:r>
            <a:r>
              <a:rPr lang="fr-FR" dirty="0" err="1"/>
              <a:t>StandardError</a:t>
            </a:r>
            <a:r>
              <a:rPr lang="fr-FR" dirty="0"/>
              <a:t> (erreur standard), Variance (variance de l’estimateur), </a:t>
            </a:r>
            <a:r>
              <a:rPr lang="fr-FR" dirty="0" err="1"/>
              <a:t>ControlVariateAdjustment</a:t>
            </a:r>
            <a:r>
              <a:rPr lang="fr-FR" dirty="0"/>
              <a:t> (ajustement dû à la variable de contrôle, par défaut 0), </a:t>
            </a:r>
            <a:r>
              <a:rPr lang="fr-FR" dirty="0" err="1"/>
              <a:t>VarianceReduction</a:t>
            </a:r>
            <a:r>
              <a:rPr lang="fr-FR" dirty="0"/>
              <a:t> (réduction de variance en %, par défaut 0).</a:t>
            </a:r>
          </a:p>
          <a:p>
            <a:r>
              <a:rPr lang="fr-FR" dirty="0"/>
              <a:t>Classe public MonteCarloPricerH2 ayant pour attributs : _</a:t>
            </a:r>
            <a:r>
              <a:rPr lang="fr-FR" dirty="0" err="1"/>
              <a:t>random</a:t>
            </a:r>
            <a:r>
              <a:rPr lang="fr-FR" dirty="0"/>
              <a:t> (générateur pseudo-aléatoire), _</a:t>
            </a:r>
            <a:r>
              <a:rPr lang="fr-FR" dirty="0" err="1"/>
              <a:t>seed</a:t>
            </a:r>
            <a:r>
              <a:rPr lang="fr-FR" dirty="0"/>
              <a:t> (</a:t>
            </a:r>
            <a:r>
              <a:rPr lang="fr-FR" dirty="0" err="1"/>
              <a:t>seed</a:t>
            </a:r>
            <a:r>
              <a:rPr lang="fr-FR" dirty="0"/>
              <a:t> pour reproductibilité)</a:t>
            </a:r>
          </a:p>
          <a:p>
            <a:r>
              <a:rPr lang="fr-FR" dirty="0"/>
              <a:t>Classe MonteCarloPricerH2 regroupant les méthodes : Price, </a:t>
            </a:r>
            <a:r>
              <a:rPr lang="fr-FR" dirty="0" err="1"/>
              <a:t>SimulatePaths</a:t>
            </a:r>
            <a:r>
              <a:rPr lang="fr-FR" dirty="0"/>
              <a:t>, </a:t>
            </a:r>
            <a:r>
              <a:rPr lang="fr-FR" dirty="0" err="1"/>
              <a:t>GenerateCorrelatedRandomNumbers</a:t>
            </a:r>
            <a:r>
              <a:rPr lang="fr-FR" dirty="0"/>
              <a:t>, </a:t>
            </a:r>
            <a:r>
              <a:rPr lang="fr-FR" dirty="0" err="1"/>
              <a:t>CalculateControlVariate</a:t>
            </a:r>
            <a:r>
              <a:rPr lang="fr-FR" dirty="0"/>
              <a:t>, </a:t>
            </a:r>
            <a:r>
              <a:rPr lang="fr-FR" dirty="0" err="1"/>
              <a:t>ApplyControlVariateReduction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44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940FD-CF8B-406C-A847-078F1A9E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8" y="386121"/>
            <a:ext cx="10515600" cy="1325563"/>
          </a:xfrm>
        </p:spPr>
        <p:txBody>
          <a:bodyPr/>
          <a:lstStyle/>
          <a:p>
            <a:r>
              <a:rPr lang="fr-FR" dirty="0"/>
              <a:t>Résultats (1)</a:t>
            </a:r>
          </a:p>
        </p:txBody>
      </p:sp>
      <p:pic>
        <p:nvPicPr>
          <p:cNvPr id="11" name="Espace réservé du contenu 10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F852D42D-C43B-0B65-2385-27323A3D7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140" y="365125"/>
            <a:ext cx="8002870" cy="6127750"/>
          </a:xfrm>
        </p:spPr>
      </p:pic>
    </p:spTree>
    <p:extLst>
      <p:ext uri="{BB962C8B-B14F-4D97-AF65-F5344CB8AC3E}">
        <p14:creationId xmlns:p14="http://schemas.microsoft.com/office/powerpoint/2010/main" val="143615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98AFA-CE89-8B0A-87D0-C06DDA74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A8322-DBAB-3C7B-DAF9-ABCF3DE08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Vérification de la CDF normale par le test </a:t>
            </a:r>
            <a:r>
              <a:rPr lang="fr-FR" dirty="0" err="1"/>
              <a:t>TestNormalCdf</a:t>
            </a:r>
            <a:r>
              <a:rPr lang="fr-FR" dirty="0"/>
              <a:t>.</a:t>
            </a:r>
          </a:p>
          <a:p>
            <a:r>
              <a:rPr lang="fr-FR" dirty="0"/>
              <a:t>Vérification de Black–Scholes et de la parité put-call par le test </a:t>
            </a:r>
            <a:r>
              <a:rPr lang="fr-FR" dirty="0" err="1"/>
              <a:t>TestBlackScholes</a:t>
            </a:r>
            <a:r>
              <a:rPr lang="fr-FR" dirty="0"/>
              <a:t>.</a:t>
            </a:r>
          </a:p>
          <a:p>
            <a:r>
              <a:rPr lang="fr-FR" dirty="0"/>
              <a:t>Tests de construction des objets Stock et Basket: </a:t>
            </a:r>
            <a:r>
              <a:rPr lang="fr-FR" dirty="0" err="1"/>
              <a:t>TestStockConstruction</a:t>
            </a:r>
            <a:r>
              <a:rPr lang="fr-FR" dirty="0"/>
              <a:t>, </a:t>
            </a:r>
            <a:r>
              <a:rPr lang="fr-FR" dirty="0" err="1"/>
              <a:t>TestBasketConstruction</a:t>
            </a:r>
            <a:r>
              <a:rPr lang="fr-FR" dirty="0"/>
              <a:t>.</a:t>
            </a:r>
          </a:p>
          <a:p>
            <a:r>
              <a:rPr lang="fr-FR" dirty="0"/>
              <a:t>Test de cohérence du </a:t>
            </a:r>
            <a:r>
              <a:rPr lang="fr-FR" dirty="0" err="1"/>
              <a:t>pricer</a:t>
            </a:r>
            <a:r>
              <a:rPr lang="fr-FR" dirty="0"/>
              <a:t> Moment Matching par </a:t>
            </a:r>
            <a:r>
              <a:rPr lang="fr-FR" dirty="0" err="1"/>
              <a:t>TestMomentMatchingPricer</a:t>
            </a:r>
            <a:r>
              <a:rPr lang="fr-FR" dirty="0"/>
              <a:t> vérifiant des bornes naturelles : prix strictement positif, pour un call : C &lt; A0 (borne simple), pour un put ITM : P &lt; K (borne simple).</a:t>
            </a:r>
          </a:p>
          <a:p>
            <a:r>
              <a:rPr lang="fr-FR" dirty="0"/>
              <a:t>Validation des modèles déterministes H2 par TestH2Models validant : l’interpolation linéaire du taux instantané r(t), l’interpolation linéaire de la volatilité </a:t>
            </a:r>
            <a:r>
              <a:rPr lang="el-GR" dirty="0"/>
              <a:t>σ(</a:t>
            </a:r>
            <a:r>
              <a:rPr lang="fr-FR" dirty="0"/>
              <a:t>t) dans </a:t>
            </a:r>
            <a:r>
              <a:rPr lang="fr-FR" dirty="0" err="1"/>
              <a:t>DeterministicVolatilityModel</a:t>
            </a:r>
            <a:r>
              <a:rPr lang="fr-FR" dirty="0"/>
              <a:t>, la construction de StockH2.</a:t>
            </a:r>
          </a:p>
          <a:p>
            <a:r>
              <a:rPr lang="fr-FR" dirty="0"/>
              <a:t>Cohérence de </a:t>
            </a:r>
            <a:r>
              <a:rPr lang="fr-FR" dirty="0" err="1"/>
              <a:t>monotonicité</a:t>
            </a:r>
            <a:r>
              <a:rPr lang="fr-FR" dirty="0"/>
              <a:t> en strike par </a:t>
            </a:r>
            <a:r>
              <a:rPr lang="fr-FR" dirty="0" err="1"/>
              <a:t>TestPricingConsistency</a:t>
            </a:r>
            <a:r>
              <a:rPr lang="fr-FR" dirty="0"/>
              <a:t> vérifie un principe économique : pour un call européen de même maturité, KITM &lt; KATM &lt; KOTM ⇒ C(KITM) &gt; C(KATM) &gt; C(KOTM) &gt; 0.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452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202A5-C34A-3D98-20AE-6454894A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fonctionnels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77636-3EC7-CAD7-AF07-4DBF4FB40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Scénario 1 : panier 2 actifs ATM. </a:t>
            </a:r>
            <a:r>
              <a:rPr lang="fr-FR" dirty="0" err="1"/>
              <a:t>TestTwoAssetBasketATM</a:t>
            </a:r>
            <a:r>
              <a:rPr lang="fr-FR" dirty="0"/>
              <a:t> vérifie : prix call et put strictement positifs, cohérence relative (avec r &gt; 0, le call ATM tend à être supérieur au put ATM dans ce cadre),  bornes simples (C &lt; A0), écart raisonnable entre call et put (contrôle de plausibilité).</a:t>
            </a:r>
          </a:p>
          <a:p>
            <a:r>
              <a:rPr lang="fr-FR" dirty="0"/>
              <a:t>Scénario 2 : panier 3 actifs diversifié. </a:t>
            </a:r>
            <a:r>
              <a:rPr lang="fr-FR" dirty="0" err="1"/>
              <a:t>TestThreeAssetDiversified</a:t>
            </a:r>
            <a:r>
              <a:rPr lang="fr-FR" dirty="0"/>
              <a:t> construit un panier de trois secteurs avec volatilités et dividendes différents, puis teste un call OTM. Le prix est contrôlé par une borne de plausibilité (prix inférieur à une fraction du spot panier), afin de détecter les erreurs d’ordre de grandeur. </a:t>
            </a:r>
          </a:p>
          <a:p>
            <a:r>
              <a:rPr lang="fr-FR" dirty="0"/>
              <a:t>Scénario 3 : convergence H2 vers H1. TestH1H2Convergence impose des paramètres H2 constants (courbes plates) et compare : MM-H1 vs MM-H2. </a:t>
            </a:r>
          </a:p>
          <a:p>
            <a:r>
              <a:rPr lang="fr-FR" dirty="0"/>
              <a:t>Scénario 4 : Monte Carlo vs Moment Matching. </a:t>
            </a:r>
            <a:r>
              <a:rPr lang="fr-FR" dirty="0" err="1"/>
              <a:t>TestMonteCarloVsMomentMatching</a:t>
            </a:r>
            <a:r>
              <a:rPr lang="fr-FR" dirty="0"/>
              <a:t> compare le prix Moment Matching (H2) et une estimation Monte Carlo (H2). </a:t>
            </a:r>
          </a:p>
          <a:p>
            <a:r>
              <a:rPr lang="fr-FR" dirty="0"/>
              <a:t>Scénario 5 : réduction de variance. </a:t>
            </a:r>
            <a:r>
              <a:rPr lang="fr-FR" dirty="0" err="1"/>
              <a:t>TestVarianceReduction</a:t>
            </a:r>
            <a:r>
              <a:rPr lang="fr-FR" dirty="0"/>
              <a:t> compare l’erreur standard Monte Carlo avec et sans variable de contrôle. Le critère impose : SECV &lt; </a:t>
            </a:r>
            <a:r>
              <a:rPr lang="fr-FR" dirty="0" err="1"/>
              <a:t>SEstandard</a:t>
            </a:r>
            <a:r>
              <a:rPr lang="fr-FR" dirty="0"/>
              <a:t> et réduction &gt; 30%.</a:t>
            </a:r>
          </a:p>
          <a:p>
            <a:r>
              <a:rPr lang="fr-FR" dirty="0"/>
              <a:t>Scénario 6 : sensibilité à la corrélation. </a:t>
            </a:r>
            <a:r>
              <a:rPr lang="fr-FR" dirty="0" err="1"/>
              <a:t>TestCorrelationSensitivity</a:t>
            </a:r>
            <a:r>
              <a:rPr lang="fr-FR" dirty="0"/>
              <a:t> vérifie une propriété qualitative importante : `a volatilités identiques, une corrélation plus forte augmente la volatilité du panier, ce qui tend `a augmenter la valeur d’un call.</a:t>
            </a:r>
          </a:p>
          <a:p>
            <a:r>
              <a:rPr lang="fr-FR" dirty="0"/>
              <a:t>Scénario 7 : impact de paramètres déterministes (non constants). TestDeterministicParametersH2 construit :  une courbe de taux croissante (ex. 2% → 4%), une courbe de volatilité croissante (ex. 15% → 25%), et compare le prix obtenu à celui d’un modèle constant “moyen”. Le test impose que la différence soit non négligeable (au moins 1%), ce qui valide que l’intégration des courbes r(t) et σ(t) impacte réellement le </a:t>
            </a:r>
            <a:r>
              <a:rPr lang="fr-FR" dirty="0" err="1"/>
              <a:t>pricing</a:t>
            </a:r>
            <a:r>
              <a:rPr lang="fr-FR" dirty="0"/>
              <a:t>. </a:t>
            </a:r>
          </a:p>
          <a:p>
            <a:r>
              <a:rPr lang="fr-FR" dirty="0"/>
              <a:t>Scénario 8 : relation Call/Put (cohérences économiques). </a:t>
            </a:r>
            <a:r>
              <a:rPr lang="fr-FR" dirty="0" err="1"/>
              <a:t>TestPutCallRelationship</a:t>
            </a:r>
            <a:r>
              <a:rPr lang="fr-FR" dirty="0"/>
              <a:t> effectue plusieurs vérifications qualitatives :  call ATM &gt; put ATM lorsque le taux est positif (règle empirique cohérente dans ce cadre simple),  monotonie en strike : call ITM &gt; call ATM, put OTM &lt; put ATM,  cohérence relative : call ITM &gt; put OTM.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480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6D51D-1544-29E3-5DBD-8A7ACD46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Résulats</a:t>
            </a:r>
            <a:r>
              <a:rPr lang="fr-FR" dirty="0"/>
              <a:t> des tests unitaires et fonctionnels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75496A4-7310-E72F-05E6-99F747030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2968"/>
            <a:ext cx="5486400" cy="3847307"/>
          </a:xfr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1ADDAD6-9AB0-B8E9-171A-16BF6E1A4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437" y="1512967"/>
            <a:ext cx="5408722" cy="384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11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862</Words>
  <Application>Microsoft Office PowerPoint</Application>
  <PresentationFormat>Grand écran</PresentationFormat>
  <Paragraphs>34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Projet C#: pricing d’un panier d’options par moments matching</vt:lpstr>
      <vt:lpstr>Moments matching méthode 1</vt:lpstr>
      <vt:lpstr>Moments matching méthode 2</vt:lpstr>
      <vt:lpstr>Méthode de Monte-Carlo</vt:lpstr>
      <vt:lpstr>Résultats (1)</vt:lpstr>
      <vt:lpstr>Tests unitaires</vt:lpstr>
      <vt:lpstr>Tests fonctionnels </vt:lpstr>
      <vt:lpstr>Résulats des tests unitaires et fonctionnels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Rémi Schmitt</dc:creator>
  <cp:lastModifiedBy>Rémi Schmitt</cp:lastModifiedBy>
  <cp:revision>8</cp:revision>
  <dcterms:created xsi:type="dcterms:W3CDTF">2026-01-25T17:56:19Z</dcterms:created>
  <dcterms:modified xsi:type="dcterms:W3CDTF">2026-01-25T18:56:06Z</dcterms:modified>
</cp:coreProperties>
</file>